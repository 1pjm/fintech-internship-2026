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2B52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206240"/>
            <a:ext cx="4754880" cy="4754880"/>
          </a:xfrm>
          <a:prstGeom prst="ellipse">
            <a:avLst/>
          </a:prstGeom>
          <a:solidFill>
            <a:srgbClr val="1C2B52"/>
          </a:solidFill>
          <a:ln/>
        </p:spPr>
      </p:sp>
      <p:pic>
        <p:nvPicPr>
          <p:cNvPr id="4" name="Image 0" descr="/tmp/claude-0/-home-user-fintech-internship-2026/bc5999dd-ba0a-5cd7-8a17-c59cead087bd/scratchpad/pptx_wor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858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685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FDS · PoC  ·  핀테크 인턴십 프로젝트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21031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주식 정보방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언급종목 교차검증 FDS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 투자 유도형 과거 패턴 확인 도구 — 주제 선정 배경부터 실행 검증, 최종 대시보드까지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4892040"/>
            <a:ext cx="1801368" cy="384048"/>
          </a:xfrm>
          <a:prstGeom prst="roundRect">
            <a:avLst>
              <a:gd name="adj" fmla="val 50000"/>
            </a:avLst>
          </a:prstGeom>
          <a:solidFill>
            <a:srgbClr val="223561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892040"/>
            <a:ext cx="1801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가능한 규칙 기반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489204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223561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68880" y="4892040"/>
            <a:ext cx="21717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사건(Event) 단위 분석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05172" y="4892040"/>
            <a:ext cx="1924812" cy="384048"/>
          </a:xfrm>
          <a:prstGeom prst="roundRect">
            <a:avLst>
              <a:gd name="adj" fmla="val 50000"/>
            </a:avLst>
          </a:prstGeom>
          <a:solidFill>
            <a:srgbClr val="223561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5172" y="4892040"/>
            <a:ext cx="19248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&lt;300억 보통주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94576" y="4892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23561"/>
          </a:solidFill>
          <a:ln w="12700">
            <a:solidFill>
              <a:srgbClr val="3A4E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94576" y="4892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7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494건 실행 검증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v1.3 · 파이프라인 v2.3 · 2026-07-21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BACKGROUND — 문제 선정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투자자는 늘고, 불법 투자 리딩방 피해도 함께 커지고 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주식거래 활동계좌 수 1억 877만 개 — 올해 들어서만 1,049만 개 증가하며 개인 투자자 저변이 빠르게 확대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금융당국은 핀플루언서 등 온라인 투자 조언 과정의 불법행위에 대한 제도 개선·단속을 지속 중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종목 스크리너·공시 서비스는 있지만, 텔레그램에서 언급된 종목을 사건 단위로 묶어 거래량·가격·공시·뉴스를 한눈에 비교하는 서비스는 확인되지 않음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46520" y="180136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1조 2,901억 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46520" y="2322576"/>
            <a:ext cx="246888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2년간(2023.9~2025.9)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 투자 리딩방 피해액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235440" y="16916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72600" y="180136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7,232건 / 3,300명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72600" y="2322576"/>
            <a:ext cx="246888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경찰청 특별단속 17개월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적발 건수 / 검거 인원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9260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303580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46520" y="3557016"/>
            <a:ext cx="246888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2년 이내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리딩방 소비자 피해 경험 비율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235440" y="292608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372600" y="3035808"/>
            <a:ext cx="2468880" cy="5783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41% 급증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372600" y="3557016"/>
            <a:ext cx="2468880" cy="3995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금감원 접수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 투자자문 민원 증가율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160520"/>
            <a:ext cx="11185855" cy="1691640"/>
          </a:xfrm>
          <a:prstGeom prst="roundRect">
            <a:avLst>
              <a:gd name="adj" fmla="val 3784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지금, 왜 텔레그램 주식정보 채널인가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70916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FinanceDataReader·Open DART OpenAPI 등 공개 데이터와 오픈소스 도구를 활용하면 개인·학생 프로젝트 수준에서도 과거 사건 분석형 MVP를 구현할 수 있다. 다만 상시 실시간 감시·자동 경고에는 별도 서버·수집 인프라가 필요해 장기 확장 범위로 둔다.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아시아타임즈(2025) · 경향신문(2025) · 소비문화연구(2022) · 서울경제(2026) — PRD 2번 Background 인용 확인 완료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PROBLEM STATEMENT —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메시지 하나만으로는 '지금 이상한 움직임인지' 확인할 수 없다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383280" cy="2743200"/>
          </a:xfrm>
          <a:prstGeom prst="roundRect">
            <a:avLst>
              <a:gd name="adj" fmla="val 2333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Situation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투자자가 공개 텔레그램 주식정보 채널에서 특정 종목 정보·추천성 메시지를 접한다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04488" y="292608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383280" cy="2743200"/>
          </a:xfrm>
          <a:prstGeom prst="roundRect">
            <a:avLst>
              <a:gd name="adj" fmla="val 2333"/>
            </a:avLst>
          </a:prstGeom>
          <a:solidFill>
            <a:srgbClr val="FBF1E0"/>
          </a:solidFill>
          <a:ln w="12700">
            <a:solidFill>
              <a:srgbClr val="FBF1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Pain 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30175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거래량이 이미 비정상적으로 늘었는지, 언급 후 시장보다 더 하락했는지, 같은 기간 공시가 있었는지 종합적으로 확인하기 어렵다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99248" y="2926080"/>
            <a:ext cx="374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383280" cy="2743200"/>
          </a:xfrm>
          <a:prstGeom prst="roundRect">
            <a:avLst>
              <a:gd name="adj" fmla="val 2333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116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30175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 교차확인 없이 추천을 추종하고, 손실이 나도 어떤 패턴을 놓쳤는지 학습하기 어렵다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892040"/>
            <a:ext cx="11185855" cy="1188720"/>
          </a:xfrm>
          <a:prstGeom prst="roundRect">
            <a:avLst>
              <a:gd name="adj" fmla="val 5385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5029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지금, 왜 우리인가?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3492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DART·FinanceDataReader·네이버 뉴스 검색 API 등 공개 데이터만으로 Colab 기반 실데이터 MVP를 구현할 수 있고, 설명 가능한 규칙을 핵심 분석 방식으로 삼아 사용자가 근거를 직접 추적·검토하게 한다.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TARGET PERSONA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김건우 — 텔레그램 종목 정보를 교차확인하고 싶은 투자자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291840" cy="42062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011680"/>
            <a:ext cx="914400" cy="914400"/>
          </a:xfrm>
          <a:prstGeom prst="ellipse">
            <a:avLst/>
          </a:prstGeom>
          <a:solidFill>
            <a:srgbClr val="EAF1FC"/>
          </a:solidFill>
          <a:ln/>
        </p:spPr>
      </p:sp>
      <p:pic>
        <p:nvPicPr>
          <p:cNvPr id="6" name="Image 0" descr="/tmp/claude-0/-home-user-fintech-internship-2026/bc5999dd-ba0a-5cd7-8a17-c59cead087bd/scratchpad/pptx_work/icons/user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017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김건우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20~30대 사회초년생 직장인 (가설 페르소나)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840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지인 초대·검색으로 공개 텔레그램 주식정보 채널 이용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재테크·증권 앱엔 익숙하지만 공시·지수 비교 경험은 적음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수익에 관심 있으나, 보기 전에 최소한의 근거를 확인하고 싶어함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60520" y="1737360"/>
            <a:ext cx="3383280" cy="4206240"/>
          </a:xfrm>
          <a:prstGeom prst="roundRect">
            <a:avLst>
              <a:gd name="adj" fmla="val 1892"/>
            </a:avLst>
          </a:prstGeom>
          <a:solidFill>
            <a:srgbClr val="FBEAEA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Pain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89120" y="2377440"/>
            <a:ext cx="29260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시점에 거래량이 이미 크게 늘었는지 확인 어려움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후 가격이 시장보다 크게 하락했는지 비교 어려움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기사·공시가 언제 발생했는지 함께 확인 어려움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20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주의해서 봐야 하는지 이해하기 어려움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80960" y="1737360"/>
            <a:ext cx="3566160" cy="4206240"/>
          </a:xfrm>
          <a:prstGeom prst="roundRect">
            <a:avLst>
              <a:gd name="adj" fmla="val 1795"/>
            </a:avLst>
          </a:prstGeom>
          <a:solidFill>
            <a:srgbClr val="E8F7E8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09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Need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09560" y="237744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사건의 가격·거래량·시장 대비 패턴을 한눈에 확인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공시·뉴스 정황을 같은 시간축에서 확인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표시된 이유를 쉬운 문장으로 이해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정상·사기 여부를 판정받기보다 스스로 확인할 기준 습득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GOALS — 제품 목표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패턴을 보여주고, 스스로 확인할 기준을 학습시킨다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1417320"/>
          </a:xfrm>
          <a:prstGeom prst="roundRect">
            <a:avLst>
              <a:gd name="adj" fmla="val 4516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1054577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텔레그램 주식정보 채널에서 종목 정보를 접한 개인투자자가, 과거 사건의 언급·거래량·가격·시장 대비 움직임을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대시보드에서 확인하고 당시 공시·뉴스 정황을 함께 참고해, 유사한 추천을 접했을 때 주의해서 살펴볼 기준을 학습하도록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돕는 투자자 보호형 MVP. 설명 가능한 규칙 중심이며, 우량·부실·사기 여부나 매수·매도 적정성을 판정하지 않는다. 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35204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429000"/>
            <a:ext cx="73152" cy="242316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사건의 거래량·가격·시장 대비 패턴을 확인하고, 유사 정보를 접했을 때 무엇을 더 봐야 하는지 학습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3429000"/>
            <a:ext cx="35204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3429000"/>
            <a:ext cx="73152" cy="2423160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2" name="Text 10"/>
          <p:cNvSpPr/>
          <p:nvPr/>
        </p:nvSpPr>
        <p:spPr>
          <a:xfrm>
            <a:off x="4590288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Goal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402336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기업분석·투자추천이 아닌, 설명 가능한 규칙과 시각화로 과거 이상징후 패턴을 탐색하는 투자자 보호형 FDS PoC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3429000"/>
            <a:ext cx="3520440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29016" y="3429000"/>
            <a:ext cx="73152" cy="2423160"/>
          </a:xfrm>
          <a:prstGeom prst="rect">
            <a:avLst/>
          </a:prstGeom>
          <a:solidFill>
            <a:srgbClr val="B8790A"/>
          </a:solidFill>
          <a:ln/>
        </p:spPr>
      </p:sp>
      <p:sp>
        <p:nvSpPr>
          <p:cNvPr id="16" name="Text 14"/>
          <p:cNvSpPr/>
          <p:nvPr/>
        </p:nvSpPr>
        <p:spPr>
          <a:xfrm>
            <a:off x="8403336" y="3611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Goal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03336" y="402336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실데이터로 언급·거래량·가격·공시·뉴스 패턴 재현 검증 + 상장폐지 사례로 이진분류·XAI 백테스트 실습 적용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초기 화면설계 — 팀 브레인스토밍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플로우 초안: 급등락 리스트 → 사유 → 백오피스 검수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371600" y="169164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7647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급등락중인 종목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2103120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 +30%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21442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44268"/>
            <a:ext cx="475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2487168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4871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871216"/>
            <a:ext cx="2286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871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현대자동차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862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89120" y="1691640"/>
            <a:ext cx="2468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18288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22860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주가 그래프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274320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급등락중인 이유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플로우 화면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91640" y="36118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E8F7E8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91640" y="3611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급등락 현황 리스트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02336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389120" y="36118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E8F7E8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89120" y="36118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급등락 사유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4892040"/>
            <a:ext cx="1051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백오피스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91640" y="48006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69164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종목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5074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0" y="48006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사유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5074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623560" y="48006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2356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사유 설명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인간검증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5074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589520" y="4800600"/>
            <a:ext cx="1691640" cy="1005840"/>
          </a:xfrm>
          <a:prstGeom prst="roundRect">
            <a:avLst>
              <a:gd name="adj" fmla="val 6364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89520" y="480060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고객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노출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4343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검수 항목이 줄어드는 것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(2026-06 팀 워크숍 화이트보드 원안 — 실제 파이프라인은 09~10단계에서 익명 목록·상세 화면으로 구현)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북극성 지표 — 팀 워크숍 초안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지표: 위험 신호 적중률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가능한, 우리가 시도해볼 수 있는 지표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기업이 안정적으로 회사를 운영하고, 개미투자자는 수익이 좋은 기업에 투자할 수 있도록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위험 신호 적중률을 높인다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6949440" cy="2286000"/>
          </a:xfrm>
          <a:prstGeom prst="roundRect">
            <a:avLst>
              <a:gd name="adj" fmla="val 2800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적중률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4EA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“주의 관찰 요망” 판정을 받은 종목 중, 이후 실제로 나빠진(시장 대비 추가 하락 지속·관리종목 지정·상장폐지) 비율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6400800" cy="731520"/>
          </a:xfrm>
          <a:prstGeom prst="roundRect">
            <a:avLst>
              <a:gd name="adj" fmla="val 10000"/>
            </a:avLst>
          </a:prstGeom>
          <a:solidFill>
            <a:srgbClr val="22356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690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(주의 관찰 요망 중 이후 실제 악화된 종목 수) / (전체 주의 관찰 요망 종목 수) × 100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26680" y="1600200"/>
            <a:ext cx="3566160" cy="3383280"/>
          </a:xfrm>
          <a:prstGeom prst="roundRect">
            <a:avLst>
              <a:gd name="adj" fmla="val 1892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보조지표 (아이디어 원안)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22402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종목 기간 → 지속된다,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종목이 아닐 가능성 높다!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⇒ 잘못 포착 → 왜 잘못됐지?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3520440"/>
            <a:ext cx="3108960" cy="0"/>
          </a:xfrm>
          <a:prstGeom prst="line">
            <a:avLst/>
          </a:prstGeom>
          <a:noFill/>
          <a:ln w="12700">
            <a:solidFill>
              <a:srgbClr val="E0C4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포착 → 우리가 탐지한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종목이 줄어드는 것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212080"/>
            <a:ext cx="11185855" cy="1051560"/>
          </a:xfrm>
          <a:prstGeom prst="roundRect">
            <a:avLst>
              <a:gd name="adj" fmla="val 6087"/>
            </a:avLst>
          </a:prstGeom>
          <a:solidFill>
            <a:srgbClr val="FBEAEA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17" name="Image 0" descr="/tmp/claude-0/-home-user-fintech-internship-2026/bc5999dd-ba0a-5cd7-8a17-c59cead087bd/scratchpad/pptx_work/icons/exclamati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4068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25880" y="5212080"/>
            <a:ext cx="101342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상태: 실제 정답 라벨(상장폐지·관리종목 지정 등)과 반례 데이터셋이 아직 없어 이 지표는 산출 전 단계입니다. 09~10번 Scope의 “상장폐지 XAI 백테스트”가 이 지표를 검증하기 위한 실질적 접근입니다.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SCOPE — MVP 범위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하고, 무엇을 하지 않는가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77840" cy="4251960"/>
          </a:xfrm>
          <a:prstGeom prst="roundRect">
            <a:avLst>
              <a:gd name="adj" fmla="val 1505"/>
            </a:avLst>
          </a:prstGeom>
          <a:solidFill>
            <a:srgbClr val="E8F7E8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50292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보통주 · 시가총액 300억 원 미만 초기 필터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주변 거래량 급증 배율 + 언급 전후 코스닥 지수 대비 상대수익률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채널 신호 집중도 판정 (평소엔 조용, 언급 시점에만 몰림)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가능한 5단계 규칙 기반 상태 분류 + 근거 배지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익명화된 사건 목록 화면 + 패턴 그룹 비교 화면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DART 공시 · 네이버 뉴스 발생 시점 (보조 정황, Should-have)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5C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(연구 트랙) 상장폐지 기업 XAI 백테스트 — 팀 피드백 반영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4937760" cy="4251960"/>
          </a:xfrm>
          <a:prstGeom prst="roundRect">
            <a:avLst>
              <a:gd name="adj" fmla="val 1505"/>
            </a:avLst>
          </a:prstGeom>
          <a:solidFill>
            <a:srgbClr val="FBEAEA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94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240280"/>
            <a:ext cx="44805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정상·불법·사기 여부 판정, 우량·부실기업 판정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매수·매도 확정 추천, 실시간 자동매매/주문 실행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종목 실시간 탐지·자동 경고 (상시 수집 인프라 필요 → 장기 확장)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VIP·유료·비공개 리딩방 접근 및 잠입 크롤링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언론사 신뢰도 평가, 전체 종목 재무비율 건전성 분석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섹터(바이오·로봇) 전용 판정 기준의 즉시 확정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E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 XAI 백테스트 결과를 활성 종목 실시간 판정에 반영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팀 피드백 반영 히스토리 — PRD V1.0 → V1.3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피드백 세션마다 규칙과 범위를 조정했다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76767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기획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929384"/>
            <a:ext cx="91440" cy="91440"/>
          </a:xfrm>
          <a:prstGeom prst="ellipse">
            <a:avLst/>
          </a:prstGeom>
          <a:solidFill>
            <a:srgbClr val="767676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020824"/>
            <a:ext cx="0" cy="612648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737360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리딩방·펌프앤덤프 채널을 직접 수집하는 방향 검토 → VIP 접근 제약, 채널 폭파로 재현 가능한 표본 확보 어려움 확인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502920" y="25328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3288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91640" y="2633472"/>
            <a:ext cx="91440" cy="914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7360" y="2724912"/>
            <a:ext cx="0" cy="612648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441448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리딩방이 아닌 공개 텔레그램 주식정보 채널의 종목 언급으로 분석 대상 전환. 용어를 텔레그램 주식정보 채널로 통일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02920" y="323697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B8790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3337560"/>
            <a:ext cx="91440" cy="91440"/>
          </a:xfrm>
          <a:prstGeom prst="ellipse">
            <a:avLst/>
          </a:prstGeom>
          <a:solidFill>
            <a:srgbClr val="B8790A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3429000"/>
            <a:ext cx="0" cy="612648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145536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채널 신호 집중도 판정 규칙 추가 — “평소엔 조용하다가 특정 상황에만 신호가 몰리면 그 자체가 위험 신호” 피드백 반영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02920" y="394106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B87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4106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4041648"/>
            <a:ext cx="91440" cy="91440"/>
          </a:xfrm>
          <a:prstGeom prst="ellipse">
            <a:avLst/>
          </a:prstGeom>
          <a:solidFill>
            <a:srgbClr val="B8790A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4133088"/>
            <a:ext cx="0" cy="612648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849624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섹터(바이오·로봇) 처리 기준은 확정하지 않고 유보 — 내부 데이터 섹터 분포 확인 후 결정하기로 함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02920" y="4645152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64515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4745736"/>
            <a:ext cx="91440" cy="91440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27" name="Shape 25"/>
          <p:cNvSpPr/>
          <p:nvPr/>
        </p:nvSpPr>
        <p:spPr>
          <a:xfrm>
            <a:off x="1737360" y="4837176"/>
            <a:ext cx="0" cy="612648"/>
          </a:xfrm>
          <a:prstGeom prst="line">
            <a:avLst/>
          </a:prstGeom>
          <a:noFill/>
          <a:ln w="19050">
            <a:solidFill>
              <a:srgbClr val="E3E5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4553712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“리딩방 피해로 상장폐지된 기업을 XAI로 추적하자”는 피드백 반영 — 상장폐지 XAI 백테스트를 연구 트랙 Scope로 신설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502920" y="53492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3492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91640" y="5449824"/>
            <a:ext cx="91440" cy="91440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32" name="Text 30"/>
          <p:cNvSpPr/>
          <p:nvPr/>
        </p:nvSpPr>
        <p:spPr>
          <a:xfrm>
            <a:off x="1965960" y="5257800"/>
            <a:ext cx="97840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KOSDAQ 3년 상장폐지현황 실데이터 분석 결과, 65%가 SPAC 해산·M&amp;A·코스피 이전 — 실질적 부실 상장폐지와 구분 필요 확인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09. 파이프라인 진화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종목(Stock) 단위 분석에서 사건(Event) 단위 분석으로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120640" cy="4023360"/>
          </a:xfrm>
          <a:prstGeom prst="roundRect">
            <a:avLst>
              <a:gd name="adj" fmla="val 1591"/>
            </a:avLst>
          </a:prstGeom>
          <a:solidFill>
            <a:srgbClr val="F1F2F4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파이프라인 (종목 단위)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첫 시점(mention_date) 기준 — 채널 활동이 뜸하면 관찰 기간이 종목마다 763~1,792거래일로 제각각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MinHash/LSH 기반 근접중복 뉴스 탐지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pump_news_score 등 종합 점수 산출 후 Isolation Forest로 보조 검토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상태 분류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5120640" cy="4023360"/>
          </a:xfrm>
          <a:prstGeom prst="roundRect">
            <a:avLst>
              <a:gd name="adj" fmla="val 1591"/>
            </a:avLst>
          </a:prstGeom>
          <a:solidFill>
            <a:srgbClr val="EAF1FC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v2.3 파이프라인 (사건 단위) — 채택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분석 기간(2026-06) + 앞뒤 버퍼로 사건을 재구성 — 종목마다 제각각이던 관찰기간 문제 해결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간격·최대 지속시간으로 사건(event_id)을 묶고, 장 마감 후 언급은 다음 거래일부터 반응 계산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 기반 robust z-score로 거래량 이상치를 보조 검증, 코스닥 대비 초과수익률로 가격 판정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3D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없는 5단계 규칙 기반 분류 + 사후 15거래일 관찰로 신호 자체를 검증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607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5943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PRD v1.3 피드백을 반영해 파이프라인을 전면 재작성 — 실제 캐시 데이터(2026-06, 494건)로 재현 실행해 PRD 부합도를 교차 검증한 뒤 v2.3을 새 기준 노트북으로 채택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파이프라인 아키텍처 — TELEGRAM_FDS_EVENT.IPYNB V2.3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0~12단계, 하나의 재현 가능한 Colab 노트북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8562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4088" y="22402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설정·분석 기간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98064" y="1783080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07792" y="18562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07792" y="22402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메시지 준비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01768" y="1783080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11496" y="18562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11496" y="22402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정규화·태그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05472" y="1783080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18562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22402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 종목 사전·필터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09176" y="1783080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18904" y="18562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18904" y="224028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단위 묶기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099816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" y="3172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" y="3557016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언급 전후 시장 데이터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98064" y="3099816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07792" y="3172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907792" y="3557016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 정황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01768" y="3099816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11496" y="3172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11496" y="3557016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DART 공시 정황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05472" y="3099816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3172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3557016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없는 규칙 분류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409176" y="3099816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18904" y="31729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518904" y="3557016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목록·패턴 비교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4416552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4088" y="44897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088" y="4873752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상세 시각화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98064" y="4416552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907792" y="44897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907792" y="4873752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저장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01768" y="4416552"/>
            <a:ext cx="2084832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111496" y="44897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11496" y="4873752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제한·검증 항목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24개 시드 채널 · 분석기간 2026-06-01~07-01(+전후 버퍼) · 코스닥 보통주 시가총액 300억 원 미만 · 종목 258개 · 사건 494건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8단계 — 점수 없는 규칙 기반 상태 분류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점수 대신, 조건을 그대로 보여주는 5개 상태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BEAEA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965960"/>
            <a:ext cx="146304" cy="146304"/>
          </a:xfrm>
          <a:prstGeom prst="ellipse">
            <a:avLst/>
          </a:prstGeom>
          <a:solidFill>
            <a:srgbClr val="D03B3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21945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패턴 관찰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29260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73건 · 14.8%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512" y="338328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거래량·가격 신호 집중 + 사후 하락 또는 복수 신호 집중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752344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16936" y="1965960"/>
            <a:ext cx="146304" cy="146304"/>
          </a:xfrm>
          <a:prstGeom prst="ellipse">
            <a:avLst/>
          </a:prstGeom>
          <a:solidFill>
            <a:srgbClr val="B8790A"/>
          </a:solidFill>
          <a:ln/>
        </p:spPr>
      </p:sp>
      <p:sp>
        <p:nvSpPr>
          <p:cNvPr id="11" name="Text 9"/>
          <p:cNvSpPr/>
          <p:nvPr/>
        </p:nvSpPr>
        <p:spPr>
          <a:xfrm>
            <a:off x="2916936" y="21945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집중 패턴 관찰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916936" y="29260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· 2.6%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16936" y="338328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거래량·가격은 집중됐지만 사후 하락은 관찰되지 않음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01768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EAF1FC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6360" y="1965960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21945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정보 동반 변동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66360" y="29260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15건 · 3.0%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66360" y="338328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거래량·가격 집중 + 관찰 기간 내 중요 공시 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251192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E8F7E8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15784" y="1965960"/>
            <a:ext cx="146304" cy="146304"/>
          </a:xfrm>
          <a:prstGeom prst="ellipse">
            <a:avLst/>
          </a:prstGeom>
          <a:solidFill>
            <a:srgbClr val="0CA30C"/>
          </a:solidFill>
          <a:ln/>
        </p:spPr>
      </p:sp>
      <p:sp>
        <p:nvSpPr>
          <p:cNvPr id="21" name="Text 19"/>
          <p:cNvSpPr/>
          <p:nvPr/>
        </p:nvSpPr>
        <p:spPr>
          <a:xfrm>
            <a:off x="7415784" y="21945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패턴 미관찰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15784" y="29260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333건 · 67.4%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15784" y="338328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규칙상 특이 신호가 관찰되지 않음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500616" y="1783080"/>
            <a:ext cx="2084832" cy="3566160"/>
          </a:xfrm>
          <a:prstGeom prst="roundRect">
            <a:avLst>
              <a:gd name="adj" fmla="val 3070"/>
            </a:avLst>
          </a:prstGeom>
          <a:solidFill>
            <a:srgbClr val="EDEDE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65208" y="1965960"/>
            <a:ext cx="146304" cy="146304"/>
          </a:xfrm>
          <a:prstGeom prst="ellipse">
            <a:avLst/>
          </a:prstGeom>
          <a:solidFill>
            <a:srgbClr val="767676"/>
          </a:solidFill>
          <a:ln/>
        </p:spPr>
      </p:sp>
      <p:sp>
        <p:nvSpPr>
          <p:cNvPr id="26" name="Text 24"/>
          <p:cNvSpPr/>
          <p:nvPr/>
        </p:nvSpPr>
        <p:spPr>
          <a:xfrm>
            <a:off x="9665208" y="2194560"/>
            <a:ext cx="1755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불가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65208" y="29260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60건 · 12.1%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665208" y="338328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시장 데이터(거래일·거래량) 부족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02920" y="5532120"/>
            <a:ext cx="11185855" cy="868680"/>
          </a:xfrm>
          <a:prstGeom prst="roundRect">
            <a:avLst>
              <a:gd name="adj" fmla="val 7368"/>
            </a:avLst>
          </a:prstGeom>
          <a:solidFill>
            <a:srgbClr val="14213D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532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가능 비율 87.9%  ·  “공시 동반 상승 패턴/판단 불가”는 정상·이상 확정이 아니라 참고 신호 — 최종 판정은 사람이 근거를 보고 검토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실행 검증 — 실제 2026-06 캐시 데이터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코드로만 보지 않고, 실제로 돌려서 확인했다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52120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재작성한 v2.3 노트북을 실제 73MB 캐시(2026-06월, 24개 채널)로 오프라인 재실행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494건 사건이 5단계 상태로 정상 분류되는 것을 확인 — 코드 리뷰가 아니라 실제 실행 결과로 검증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그룹별 평균 지표를 비교해, 규칙이 실제로 구분력을 갖는지 수치로 확인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표는 대시보드의 “패턴 그룹 비교” 화면에서 그대로 재현됨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35040" y="1737360"/>
            <a:ext cx="52578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6" name="Image 0" descr="/tmp/claude-0/-home-user-fintech-internship-2026/bc5999dd-ba0a-5cd7-8a17-c59cead087bd/scratchpad/pptx_work/shot_patter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194560"/>
            <a:ext cx="4892040" cy="11224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대시보드 화면 캡처 — 패턴 그룹 비교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0" y="52120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“주의 패턴 관찰” 그룹은 사건구간 초과수익률 +31.6%p로 가장 크게 튀지만, 사후 15거래일 평균 -8.0%p로 되돌림. “특이 패턴 미관찰” 그룹은 사후 +4.9%p로 대조적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핵심 증거 — 위험 신호가 실제로 의미 있었나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“주의 패턴 관찰” 신호는 사후에도 실제로 갈렸다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2A1414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57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패턴 관찰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-8.0%p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C9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15거래일, 코스닥 대비 평균 상대수익률 (n=73)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4068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14301A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E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패턴 미관찰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ED4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+4.9%p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629400" y="37033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9E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15거래일, 코스닥 대비 평균 상대수익률 (n=333)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5349240"/>
            <a:ext cx="11185855" cy="1005840"/>
          </a:xfrm>
          <a:prstGeom prst="roundRect">
            <a:avLst>
              <a:gd name="adj" fmla="val 6364"/>
            </a:avLst>
          </a:prstGeom>
          <a:solidFill>
            <a:srgbClr val="1C2B52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34924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지표이며 인과관계 증명이 아닙니다. 반례 정답셋 없이 오탐률·상장폐지 사전포착률까지 확정할 수는 없지만, 규칙이 최소한 “구분력”을 갖는다는 근거는 실측으로 확인했습니다.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최종 산출물 — 대시보드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탐색 화면 — 목록은 익명, KPI는 실데이터로 재계산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5855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5" name="Image 0" descr="/tmp/claude-0/-home-user-fintech-internship-2026/bc5999dd-ba0a-5cd7-8a17-c59cead087bd/scratchpad/pptx_work/shot_list_filt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1874520"/>
            <a:ext cx="658368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636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화면엔 종목명 없이 사건 ID만 노출(PRD 익명화 원칙) · KPI·패턴 비교는 업로드된 사건 데이터에서 항상 새로 계산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최종 산출물 — 대시보드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상세 화면 — 실제 차트·근거·뉴스·공시 원문까지 한 화면에서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919845" cy="4526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pic>
        <p:nvPicPr>
          <p:cNvPr id="5" name="Image 0" descr="/tmp/claude-0/-home-user-fintech-internship-2026/bc5999dd-ba0a-5cd7-8a17-c59cead087bd/scratchpad/pptx_work/shot_detail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2645525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88525" y="1920240"/>
            <a:ext cx="790025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화면에서만 종목명·티커 공개 — 목록의 익명화와 균형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일별 시계열(73거래일)로 종목가·코스닥지수를 지수화해 비교하고, 반응 기준 거래일을 점선으로 표시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근거를 배지(칩)로 그대로 노출 — 블랙박스 점수 없이 왜 이 상태인지 그대로 읽힘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DART 공시·네이버 뉴스 원문 링크를 사건 전후 창 안에서 함께 제공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xlsx를 직접 파싱(ZIP+DEFLATE 처음부터 구현)해, 노트북을 다시 돌리면 대시보드 전체가 새 데이터로 갱신됨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한계와 OPEN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숨기지 않은 제약들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1F2F4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데이터·규칙의 한계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4846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시가총액 300억 원 미만은 위험 기준이 아니라 분석 대상 축소를 위한 운영 기준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거래량·가격 임계값은 실험값 — 표본 분포·백테스트 결과에 따라 조정 필요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 미확인은 호재 부재·부실기업을 의미하지 않음(관찰 기간 밖·매핑 누락 가능)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언론사 신뢰도는 판정하지 않으며, 유사 기사·보도자료성 표현도 조작 여부를 증명하지 않음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120640" cy="4206240"/>
          </a:xfrm>
          <a:prstGeom prst="roundRect">
            <a:avLst>
              <a:gd name="adj" fmla="val 1522"/>
            </a:avLst>
          </a:prstGeom>
          <a:solidFill>
            <a:srgbClr val="FBF1E0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4E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 XAI 백테스트 — 남은 과제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 XAI 백테스트: KIND 상장폐지 사유와 텔레그램 언급 이력의 종목 단위 매칭 방법 미확정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코스닥 3년 상장폐지현황 실데이터 기준 65%가 SPAC 해산·M&amp;A 등 — 실질적 부실과 라벨링 기준 확정 필요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상장폐지만 표본에 포함하면 생존편향 발생 — 언급은 있었으나 유지된 종목(음성 표본) 반드시 필요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3A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오탐률·상장폐지 사전포착률: 반례 정답셋이 없어 현재는 “확인 필요”로 정직하게 비워둠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다음 단계 — VER 2.X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확인할 것들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82296" cy="749808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5623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03B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상장폐지 XAI 실데이터 적용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85623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KIND 상장폐지 사유 × 텔레그램 언급 이력 매칭 기준을 확정하고, 음성 표본을 포함한 실제 이진분류·XAI 백테스트 수행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111858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651760"/>
            <a:ext cx="82296" cy="749808"/>
          </a:xfrm>
          <a:prstGeom prst="rect">
            <a:avLst/>
          </a:prstGeom>
          <a:solidFill>
            <a:srgbClr val="B8790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2491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B879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재보정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272491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표본 분포(거래량 배율·초과수익률)를 바탕으로 9단계 규칙의 임계값을 데이터 기반으로 재조정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111858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520440"/>
            <a:ext cx="82296" cy="749808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9359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78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섹터 처리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59359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데이터의 바이오·로봇 섹터 비중을 확인한 뒤, 필요 시 별도 패턴 분석·경고 배지 도입 여부 결정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389120"/>
            <a:ext cx="111858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389120"/>
            <a:ext cx="82296" cy="749808"/>
          </a:xfrm>
          <a:prstGeom prst="rect">
            <a:avLst/>
          </a:prstGeom>
          <a:solidFill>
            <a:srgbClr val="0CA30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6227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A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크롤링 없이 위험 포착 (ver 2.0)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46227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원문 수집 없이 시세·공시·뉴스 신호만으로 선제 탐지하는 구조 검토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257800"/>
            <a:ext cx="11185855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3E5EA"/>
            </a:solidFill>
            <a:prstDash val="solid"/>
          </a:ln>
          <a:effectLst>
            <a:outerShdw sx="100000" sy="100000" kx="0" ky="0" algn="bl" rotWithShape="0" blurRad="101600" dist="25400" dir="5400000">
              <a:srgbClr val="1A1A1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5257800"/>
            <a:ext cx="82296" cy="7498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33095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파일럿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5330952"/>
            <a:ext cx="716249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5명 이상 소규모 과업 테스트로 상태명·설명 문구의 이해도와 Activation/Task Success 지표 실측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2B52"/>
          </a:solidFill>
          <a:ln/>
        </p:spPr>
      </p:sp>
      <p:pic>
        <p:nvPicPr>
          <p:cNvPr id="3" name="Image 0" descr="/tmp/claude-0/-home-user-fintech-internship-2026/bc5999dd-ba0a-5cd7-8a17-c59cead087bd/scratchpad/pptx_wor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9202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834640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가능한 패턴, 스스로 확인하는 투자자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02920" y="361188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 주식 정보방 언급종목 교차검증 FDS · PRD v1.3 · 파이프라인 v2.3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43891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4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—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2026-07-21T08:30:39Z</dcterms:created>
  <dcterms:modified xsi:type="dcterms:W3CDTF">2026-07-21T08:30:39Z</dcterms:modified>
</cp:coreProperties>
</file>