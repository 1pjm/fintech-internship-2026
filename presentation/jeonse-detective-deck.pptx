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114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FILE · 전세탐정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45575" y="40233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2026.07 · 핀테크 인턴십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400" b="1" i="0">
                <a:solidFill>
                  <a:srgbClr val="201C16"/>
                </a:solidFill>
                <a:latin typeface="맑은 고딕"/>
                <a:ea typeface="맑은 고딕"/>
              </a:rPr>
              <a:t>전세</a:t>
            </a:r>
            <a:r>
              <a:rPr sz="6400" b="1" i="0">
                <a:solidFill>
                  <a:srgbClr val="12615D"/>
                </a:solidFill>
                <a:latin typeface="맑은 고딕"/>
                <a:ea typeface="맑은 고딕"/>
              </a:rPr>
              <a:t>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718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5B5346"/>
                </a:solidFill>
                <a:latin typeface="맑은 고딕"/>
                <a:ea typeface="맑은 고딕"/>
              </a:rPr>
              <a:t>깡통전세(전세보증금 미반환) 위험을 예측하고, "왜 위험한가"를 SHAP으로 설명하는 XAI 서비스. 문제 정의부터 데이터 수집, 모델링, 서비스화까지의 기록.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4206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201C16"/>
                </a:solidFill>
                <a:latin typeface="Consolas"/>
                <a:ea typeface="Consolas"/>
              </a:rPr>
              <a:t>78</a:t>
            </a: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224528"/>
            <a:ext cx="1371600" cy="256032"/>
          </a:xfrm>
          <a:prstGeom prst="roundRect">
            <a:avLst>
              <a:gd name="adj" fmla="val 40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B23A34"/>
                </a:solidFill>
                <a:latin typeface="Consolas"/>
                <a:ea typeface="Consolas"/>
              </a:rPr>
              <a:t>위험 등급 · 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5B5346"/>
                </a:solidFill>
                <a:latin typeface="맑은 고딕"/>
                <a:ea typeface="맑은 고딕"/>
              </a:rPr>
              <a:t>1. 전세가율이 높습니다 · 2. 선순위채권금액이 큽니다 · 3. 주택유형위험도가 높게 반영됐습니다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담당 — 박지민 · 박소연 · 송예원 · 이다영          데이터 — HUG 전세보증 대위변제현황 50,054건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8074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01 ·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깡통전세란?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전세보증금이 매매가를 웃도는 집. 최근 수년간 전셋값이 급등한 반면 거래 절벽으로 집값 상승세가 주춤하면서, 깡통전세 피해를 우려하는 세입자가 늘고 있다 — 2021년부터 전세반환보증 가입이 급증하는 배경이다.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501487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51723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B23A34"/>
                </a:solidFill>
                <a:latin typeface="맑은 고딕"/>
                <a:ea typeface="맑은 고딕"/>
              </a:rPr>
              <a:t>경매 시 보증금 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42616"/>
            <a:ext cx="51723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집주인이 대출 이자를 못 내거나 보증금을 못 돌려줘 집이 경매로 넘어가면, 은행 대출금이 세입자보다 먼저 변제된다. 낙찰가가 보증금보다 낮으면 세입자는 전세금 일부 또는 전부를 잃는다.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2148840"/>
            <a:ext cx="5501487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2313432"/>
            <a:ext cx="51723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B23A34"/>
                </a:solidFill>
                <a:latin typeface="맑은 고딕"/>
                <a:ea typeface="맑은 고딕"/>
              </a:rPr>
              <a:t>매매가 하락 위험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879" y="2642616"/>
            <a:ext cx="5172303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집값이 급락하면, 자기자본 없이 전세금으로 집을 산 집주인(갭투자)은 보증금을 반환할 능력 자체를 상실하게 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5486400" cy="1508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867912"/>
            <a:ext cx="51572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깡통전세 계산법 — 전세가율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206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201C16"/>
                </a:solidFill>
                <a:latin typeface="Consolas"/>
                <a:ea typeface="Consolas"/>
              </a:rPr>
              <a:t>전세가율 = (전세보증금 ÷ 주택 매매가) × 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" y="4663440"/>
            <a:ext cx="1737360" cy="256032"/>
          </a:xfrm>
          <a:prstGeom prst="roundRect">
            <a:avLst>
              <a:gd name="adj" fmla="val 40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2E8F58"/>
                </a:solidFill>
                <a:latin typeface="Consolas"/>
                <a:ea typeface="Consolas"/>
              </a:rPr>
              <a:t>안전 · 50~60% 이하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4663440"/>
            <a:ext cx="2011680" cy="256032"/>
          </a:xfrm>
          <a:prstGeom prst="roundRect">
            <a:avLst>
              <a:gd name="adj" fmla="val 40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B23A34"/>
                </a:solidFill>
                <a:latin typeface="Consolas"/>
                <a:ea typeface="Consolas"/>
              </a:rPr>
              <a:t>주의·위험 · 70~80% 이상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8074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02 · 주제 선정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왜 "깡통전세 위험 예측"인가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기존 전세대출 스코어링 서비스를 개선하는 방향과 별개로, 새 예측 서비스 후보를 폭넓게 검토했다.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85855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검토했던 후보들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1082009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5B5346"/>
                </a:solidFill>
                <a:latin typeface="맑은 고딕"/>
                <a:ea typeface="맑은 고딕"/>
              </a:rPr>
              <a:t>•  Gate 탈락 사유 → "합격 시뮬레이터"(Counterfactual XAI)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5B5346"/>
                </a:solidFill>
                <a:latin typeface="맑은 고딕"/>
                <a:ea typeface="맑은 고딕"/>
              </a:rPr>
              <a:t>•  승인확률 예측 모델 + SHAP force plot으로 대체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5B5346"/>
                </a:solidFill>
                <a:latin typeface="맑은 고딕"/>
                <a:ea typeface="맑은 고딕"/>
              </a:rPr>
              <a:t>•  연체(상환위험) 예측 모델화, 고객 세그먼트의 soft segmentation화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5B5346"/>
                </a:solidFill>
                <a:latin typeface="맑은 고딕"/>
                <a:ea typeface="맑은 고딕"/>
              </a:rPr>
              <a:t>•  reason 필드를 SHAP + 자연어 설명으로 고도화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•  깡통전세(보증금 미반환) 위험 예측 — 기존 컬럼 재사용 가능, 사회적 임팩트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617720"/>
            <a:ext cx="11185855" cy="100584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617720"/>
            <a:ext cx="45720" cy="100584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27448"/>
            <a:ext cx="10820095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최종 확정 이유 — 실제 사례를 통해 추적해가는 설계가 쉽다("탐정" 컨셉과 자연스럽게 연결) · 여러 서비스를 합치지 않고 깡통전세 하나에 집중 · 관련 법령·기사 자료 조사를 병행.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5572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03 · 데이터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데이터는 어디서 가져왔나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세 플랫폼을 조사했지만 성격이 뚜렷하게 달랐다 — 실제로 확인해본 뒤 역할을 나눠 정리했다.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606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32775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C4744"/>
                </a:solidFill>
                <a:latin typeface="맑은 고딕"/>
                <a:ea typeface="맑은 고딕"/>
              </a:rPr>
              <a:t>공공데이터포털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42616"/>
            <a:ext cx="327751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핵심 뼈대 데이터. 실거래가 API, HUG 보증사고 통계, 전세사기 피해 실태조사, 악성임대인 현황, 등기부등본·건축물대장 연계 데이터.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2498" y="2148840"/>
            <a:ext cx="3606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090" y="2313432"/>
            <a:ext cx="32775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8B8272"/>
                </a:solidFill>
                <a:latin typeface="맑은 고딕"/>
                <a:ea typeface="맑은 고딕"/>
              </a:rPr>
              <a:t>AI 허브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090" y="2642616"/>
            <a:ext cx="327751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전세사기 전용 정형 데이터는 없음. 문서 OCR·합성 데이터 생성 기법 참고용으로만 활용.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2148840"/>
            <a:ext cx="3606698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6668" y="2313432"/>
            <a:ext cx="32775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8B8272"/>
                </a:solidFill>
                <a:latin typeface="맑은 고딕"/>
                <a:ea typeface="맑은 고딕"/>
              </a:rPr>
              <a:t>Kaggle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6668" y="2642616"/>
            <a:ext cx="3277514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해외 사례라 직접 쓰긴 어렵지만, 금융사기 탐지 데이터셋의 불균형 처리 기법(SMOTE, class weight)을 참고.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11185855" cy="1371600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69080"/>
            <a:ext cx="45720" cy="1371600"/>
          </a:xfrm>
          <a:prstGeom prst="rect">
            <a:avLst/>
          </a:prstGeom>
          <a:solidFill>
            <a:srgbClr val="AD7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78808"/>
            <a:ext cx="10820095" cy="11521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4A0C"/>
                </a:solidFill>
                <a:latin typeface="맑은 고딕"/>
                <a:ea typeface="맑은 고딕"/>
              </a:rPr>
              <a:t>정직하게 밝히는 한계 — 개별 사고 건(임대인–세입자 매칭) 단위 raw 데이터는 개인정보 문제로 비공개다. HUG도 "집계 통계"만 공개하므로, 실제로는 HUG가 만든 합성데이터로 모델을 만들고, 지역별·주택유형별 통계로 별도 교차검증하는 방식을 택했다.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5572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04 · 원본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전세보증 대위변제현황 (HUG 합성데이터)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모델링의 뼈대가 된 원본 데이터셋. 대위변제 = HUG가 집주인 대신 세입자에게 보증금을 지급한 사건.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69359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50,054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전체 건수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2148840"/>
            <a:ext cx="269359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2022–2024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260604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3개년 (36개월)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2148840"/>
            <a:ext cx="269359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17 /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260604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시도 / 주택유형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81" y="2148840"/>
            <a:ext cx="269359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2341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~7.5%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60604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대위변제(사고) 비율 · 불균형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46120"/>
            <a:ext cx="11185855" cy="1508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41071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라벨의 의미 — 정확히 짚고 가야 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739896"/>
            <a:ext cx="10856671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5346"/>
                </a:solidFill>
                <a:latin typeface="맑은 고딕"/>
                <a:ea typeface="맑은 고딕"/>
              </a:rPr>
              <a:t>대위변제여부 = 1 는 "보증금 미반환 사고"지 "사기 판정"이 아니다. 사기(무자본 갭투자)뿐 아니라 역전세·임대인 파산으로도 발생하며, 데이터는 원인을 구분하지 않는다. 세입자 입장에선 원인이 무엇이든 피해가 동일하므로, 본 모델의 예측 대상은 "보증금 미반환 위험"으로 정의한다.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92040"/>
            <a:ext cx="11185855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0566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원본 컬럼 8종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34924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5B5346"/>
                </a:solidFill>
                <a:latin typeface="Consolas"/>
                <a:ea typeface="Consolas"/>
              </a:rPr>
              <a:t>일련번호 · 보증완료월 · 주택가액 · 임대보증금액 · 선순위채권금액 · 대위변제여부 · 시도 · 주택구분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605686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05 · 피처 엔지니어링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국토부 실거래가 API로 피처 3그룹 · 9종 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원본 8개 컬럼만으론 "이 계약이 그 시기·그 동네 기준으로 정상적인지"를 알 수 없었다. 아파트·연립다세대·단독다가구·오피스텔 4종 API를 시도×주택유형×월 단위로 집계해 붙였다.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85853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52455"/>
                <a:gridCol w="5084479"/>
                <a:gridCol w="4448919"/>
              </a:tblGrid>
              <a:tr h="3886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신규 컬럼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왜 유용한가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맑은 고딕"/>
                        </a:rPr>
                        <a:t>시세비교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Consolas"/>
                        </a:rPr>
                        <a:t>시세_평균전세보증금 · 시세대비보증금비율 · 월세전환비율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"이 계약이 동네 시세보다 비싼가"를 직접 계산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맑은 고딕"/>
                        </a:rPr>
                        <a:t>갱신계약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Consolas"/>
                        </a:rPr>
                        <a:t>평균보증금인상률 · 갱신계약비율 · 갱신요구권행사비율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임대인이 세입자를 자주 교체하는 지역인지 신호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맑은 고딕"/>
                        </a:rPr>
                        <a:t>건물특성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Consolas"/>
                        </a:rPr>
                        <a:t>평균건축연도 · 평균전용면적 · 거래량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"신축빌라 갭투자" 패턴, 표본 신뢰도 가중치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931920"/>
            <a:ext cx="11185855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409651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파생 위험지표 — 깡통지수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3891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201C16"/>
                </a:solidFill>
                <a:latin typeface="Consolas"/>
                <a:ea typeface="Consolas"/>
              </a:rPr>
              <a:t>깡통지수 = (임대보증금액 + 선순위채권금액) ÷ 주택가액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11185855" cy="868680"/>
          </a:xfrm>
          <a:prstGeom prst="rect">
            <a:avLst/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846320"/>
            <a:ext cx="45720" cy="868680"/>
          </a:xfrm>
          <a:prstGeom prst="rect">
            <a:avLst/>
          </a:prstGeom>
          <a:solidFill>
            <a:srgbClr val="AD7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56048"/>
            <a:ext cx="10820095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4A0C"/>
                </a:solidFill>
                <a:latin typeface="맑은 고딕"/>
                <a:ea typeface="맑은 고딕"/>
              </a:rPr>
              <a:t>2026년 7월 광주·전남 행정통합으로 법정동코드 체계가 개편되며 일부 지역 수집이 한때 막혔지만, 바뀐 지역코드를 다시 조사해 유효한 코드로 교체함으로써 해당 지역도 정상적으로 수집을 완료했다.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8074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06 · 피처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새 피처, 실제로 통하는가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피처를 추가하고 끝내지 않고, 실제 대위변제 여부와 맞아떨어지는지 직접 대조했다.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B23A34"/>
                </a:solidFill>
                <a:latin typeface="Consolas"/>
                <a:ea typeface="Consolas"/>
              </a:rPr>
              <a:t>15.0% vs 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깡통지수 ≥0.8 매물 vs 미만 — 약 9배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418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0.97 vs 0.71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사고 건 vs 정상 건 전세가율 중앙값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24.0% vs 2.2%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전세가율 90%↑ vs 70%↓ 구간 사고율 (11배)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11185855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4564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주택유형별 사고율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785616"/>
            <a:ext cx="10856671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B5346"/>
                </a:solidFill>
                <a:latin typeface="맑은 고딕"/>
                <a:ea typeface="맑은 고딕"/>
              </a:rPr>
              <a:t>다세대 19.7% &gt; 연립 13.5% &gt; 오피스텔 10.2% ≫ 아파트 3.3%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1185855" cy="150876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06240"/>
            <a:ext cx="45720" cy="150876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15968"/>
            <a:ext cx="10820095" cy="1289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데이터만 보고 학습한 결정트리의 첫 분기가 전세가율로 나타났다 — "깡통전세를 가르는 첫 기준은 전세가율"이라는 도메인 상식에 모델이 스스로 도달한 것으로, 엉뚱한 패턴을 학습하지 않았다는 1차 검증이 된다. (이후 깡통지수를 추가하자 SHAP 1위가 전세가율에서 깡통지수로 교체됐다 — 더 강한 위험 신호였다는 뜻.)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230782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07 · 모델링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불균형 데이터, 어떻게 다뤘나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사고가 7.5%뿐인 데이터라 "전부 정상"이라고만 답해도 정확도 92%가 나온다 — 그래서 학습 전체를 불균형을 고려한 설계로 짰다.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40,043 / 10,011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학습 / 검증 (stratify, 양성비율 7.5% 그대로 유지)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7258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418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12.25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scale_pos_weight — 정상이 사고의 약 12배라 사고에 가중치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2148840"/>
            <a:ext cx="363717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2286000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Optuna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2651760"/>
            <a:ext cx="33628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learning_rate 0.019 · num_leaves 104 · max_depth 9 등 사전 튜닝값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11185855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4564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정확도 대신 AUC와 F1을 같이 보는 이유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67512" y="3611880"/>
          <a:ext cx="10856669" cy="1005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3826"/>
                <a:gridCol w="1850568"/>
                <a:gridCol w="7402275"/>
              </a:tblGrid>
              <a:tr h="3352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맑은 고딕"/>
                        </a:rPr>
                        <a:t>ROC-AUC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Consolas"/>
                        </a:rPr>
                        <a:t>0.89 (높음)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맑은 고딕"/>
                        </a:rPr>
                        <a:t>임계값·클래스비율과 무관한 구분 실력 — 모델은 우수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맑은 고딕"/>
                        </a:rPr>
                        <a:t>F1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Consolas"/>
                        </a:rPr>
                        <a:t>0.5 (낮음)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50">
                          <a:solidFill>
                            <a:srgbClr val="5B5346"/>
                          </a:solidFill>
                          <a:latin typeface="맑은 고딕"/>
                        </a:rPr>
                        <a:t>양성 7.5% 불균형이 정밀도를 눌러서 낮게 나옴 — 모델이 나쁜 게 아님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02920" y="4846320"/>
            <a:ext cx="11185855" cy="86868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846320"/>
            <a:ext cx="45720" cy="86868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956048"/>
            <a:ext cx="10820095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불균형 데이터는 F1만 보면 모델을 과소평가하게 된다. PR 곡선을 보면 recall을 올릴수록 precision이 급락해 F1이 낮게 잡히는 구조라, ROC-AUC로 "모델 자체의 구분력"을 함께 확인해야 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8074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08 · 모델 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최종 채택 모델 — LightGBM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서비스에 실제로 반영된 모델의 성능. "위험" 등급 컷오프는 임의의 숫자가 아니라 F1이 최대가 되는 임계값을 그대로 가져왔다.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69359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0.887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ROC-AUC — 임계값 무관 구분력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673" y="2148840"/>
            <a:ext cx="269359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0.556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265176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PR-AUC — 불균형 보정 지표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2148840"/>
            <a:ext cx="269359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0.457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265176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F1 @ 0.5 (기본 임계값)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5181" y="2148840"/>
            <a:ext cx="2693593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2341" y="2286000"/>
            <a:ext cx="24192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C4744"/>
                </a:solidFill>
                <a:latin typeface="Consolas"/>
                <a:ea typeface="Consolas"/>
              </a:rPr>
              <a:t>0.547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2341" y="2651760"/>
            <a:ext cx="241927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8B8272"/>
                </a:solidFill>
                <a:latin typeface="맑은 고딕"/>
                <a:ea typeface="맑은 고딕"/>
              </a:rPr>
              <a:t>F1 @ 최적(0.80) — 운영 임계값 채택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91840"/>
            <a:ext cx="11185855" cy="73152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291840"/>
            <a:ext cx="45720" cy="73152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01568"/>
            <a:ext cx="1082009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F1 최적 임계값 0.80 → 위험 등급 "위험" 컷오프로 그대로 사용 → 0.30 이상은 "주의"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06240"/>
            <a:ext cx="11185855" cy="1508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4370832"/>
            <a:ext cx="1085667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5346"/>
                </a:solidFill>
                <a:latin typeface="맑은 고딕"/>
                <a:ea typeface="맑은 고딕"/>
              </a:rPr>
              <a:t>참고 — 팀원별로 정상 건을 사고 건 수만큼 언더샘플링해 1:1로 균형화한 뒤 테스트하는 실험도 병행했다(F1 0.814 · Recall 0.81 · Precision 0.819 · ROC-AUC 0.894). 다만 이는 균형 테스트셋 기준 수치이며, 서비스는 실제 세계의 불균형 분포(사고 7.5%)를 그대로 마주하므로 위 불균형 기준 지표를 운영 기준으로 채택했다.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830628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09 · 설명가능AI — 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모델은 전체적으로 무엇을 보고 판단하는가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Global XAI — 발표·관리자 화면용. SHAP Summary Plot으로 전 국민 단위 위험 요인 순위를 뽑았다.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85853" cy="2103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16895"/>
                <a:gridCol w="3954595"/>
                <a:gridCol w="6214363"/>
              </a:tblGrid>
              <a:tr h="350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변수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해석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깡통지수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압도적 1위 — 2위의 2배 이상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선순위채권금액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앞선 빚이 많으면 경매 시 보증금 회수가 밀림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전세가율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단일 지표로도 여전히 강한 신호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지역별 임대차 시장 긴장도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 b="1">
                          <a:solidFill>
                            <a:srgbClr val="5B5346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갱신요구권행사비율 · 시세대비보증금비율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5B5346"/>
                          </a:solidFill>
                          <a:latin typeface="맑은 고딕"/>
                        </a:rPr>
                        <a:t>동네 시세 대비 과대 보증금 신호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830628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10 · 설명가능AI — 개별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이 매물은 왜 이런 위험도로 판단했는가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Local XAI — 서비스의 진짜 핵심. 학습 데이터의 실제 매물 한 건(경남 · 아파트 · 전세가율 37% · 깡통지수 0.41)을 SHAP Force Plot으로 분해하면, 위험을 높인 요인과 낮춘 요인이 함께 드러난다.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5501486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39148"/>
                <a:gridCol w="2115956"/>
                <a:gridCol w="846382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위험을 낮춘 요인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SHAP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선순위채권금액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428만원 (낮은 편)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Consolas"/>
                        </a:rPr>
                        <a:t>-1.118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깡통지수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0.41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Consolas"/>
                        </a:rPr>
                        <a:t>-0.774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시세대비보증금비율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맑은 고딕"/>
                        </a:rPr>
                        <a:t>0.20 (시세의 20%)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2E8F58"/>
                          </a:solidFill>
                          <a:latin typeface="Consolas"/>
                        </a:rPr>
                        <a:t>-0.347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87287.5" y="2148840"/>
          <a:ext cx="5501486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39148"/>
                <a:gridCol w="2115956"/>
                <a:gridCol w="846382"/>
              </a:tblGrid>
              <a:tr h="3429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위험을 높인 요인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SHAP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경남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Consolas"/>
                        </a:rPr>
                        <a:t>+0.218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시세_평균전세보증금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약 1.97억원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Consolas"/>
                        </a:rPr>
                        <a:t>+0.065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평균전용면적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맑은 고딕"/>
                        </a:rPr>
                        <a:t>70.8㎡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200">
                          <a:solidFill>
                            <a:srgbClr val="B23A34"/>
                          </a:solidFill>
                          <a:latin typeface="Consolas"/>
                        </a:rPr>
                        <a:t>+0.056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3749040"/>
            <a:ext cx="11185855" cy="105156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749040"/>
            <a:ext cx="45720" cy="105156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58768"/>
            <a:ext cx="10820095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선순위채권이 거의 없고 깡통지수가 낮은 매물은, 지역·시세 요인이 다소 불리해도 전체적으로는 위험이 낮게 판단된다. 매물마다 이런 "위험을 높인/낮춘 요인 TOP3" 리포트를 자동 생성할 수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05763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11 · 서비스화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SHAP 값을 사람의 말로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서비스화의 핵심은 SHAP 그래프 자체가 아니라, 그 결과를 사용자가 이해할 수 있는 위험 점수·이유·행동 가이드로 바꾸는 변환 로직에 있다. 실제 데모(explain_factor)에 쓰인 문장을 그대로 옮기면: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18288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448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1C16"/>
                </a:solidFill>
                <a:latin typeface="맑은 고딕"/>
                <a:ea typeface="맑은 고딕"/>
              </a:rPr>
              <a:t>TreeSHAP 기여도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231136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B827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2888" y="2194560"/>
            <a:ext cx="1728216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2244852"/>
            <a:ext cx="17282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1C16"/>
                </a:solidFill>
                <a:latin typeface="맑은 고딕"/>
                <a:ea typeface="맑은 고딕"/>
              </a:rPr>
              <a:t>날짜 제외 상위 6개 추출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2231136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B827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194560"/>
            <a:ext cx="1225295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44852"/>
            <a:ext cx="1225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1C16"/>
                </a:solidFill>
                <a:latin typeface="맑은 고딕"/>
                <a:ea typeface="맑은 고딕"/>
              </a:rPr>
              <a:t>기여도 % 정규화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7" y="2231136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B827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88735" y="2194560"/>
            <a:ext cx="152704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88735" y="2244852"/>
            <a:ext cx="1527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1C16"/>
                </a:solidFill>
                <a:latin typeface="맑은 고딕"/>
                <a:ea typeface="맑은 고딕"/>
              </a:rPr>
              <a:t>요인별 설명 문장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3" y="2231136"/>
            <a:ext cx="201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8B8272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16951" y="2194560"/>
            <a:ext cx="1527048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1" y="2244852"/>
            <a:ext cx="152704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201C16"/>
                </a:solidFill>
                <a:latin typeface="맑은 고딕"/>
                <a:ea typeface="맑은 고딕"/>
              </a:rPr>
              <a:t>등급별 권고 문구 연결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743200"/>
          <a:ext cx="11185855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37171"/>
                <a:gridCol w="8948684"/>
              </a:tblGrid>
              <a:tr h="47026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모델 변수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실제 서비스가 사용자에게 보여주는 문장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깡통지수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"보증금과 선순위 빚을 합치면 집값의 OO%예요. 100%가 넘으면 집을 팔아도 보증금을 다 못 돌려받는 깡통전세라, 가장 큰 위험 신호예요."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선순위채권금액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"나보다 먼저 돈을 받아 갈 권리가 있는 빚이에요. 집이 경매로 팔리면 은행이 먼저 가져가고, 남은 돈에서 내 보증금을 받아요."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전세가율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"집값에서 보증금이 차지하는 비율이에요. 100%에 가까울수록 위험해요 — 경매로 팔려도 돌려받을 여유가 거의 없거든요."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시세대비보증금비율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"주변 시세보다 비싸게 낸 보증금이면, 새 세입자를 구하기 어려워 보증금 반환이 늦어질 수 있어요."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주택구분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"아파트는 비교할 집이 많아 적정가를 알기 쉽지만, 오피스텔·빌라는 비교 대상이 적어 보증금이 부풀려지기 쉬워요."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 b="1">
                          <a:solidFill>
                            <a:srgbClr val="5B5346"/>
                          </a:solidFill>
                          <a:latin typeface="Consolas"/>
                        </a:rPr>
                        <a:t>갱신요구권행사비율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100">
                          <a:solidFill>
                            <a:srgbClr val="5B5346"/>
                          </a:solidFill>
                          <a:latin typeface="맑은 고딕"/>
                        </a:rPr>
                        <a:t>"세입자가 계약갱신청구권을 쓴 비율이 낮으면, 집주인이 세입자를 자주 교체하는 갭투자 패턴일 수 있어요."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305763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12 · 서비스화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실제로 만든 화면 — 입력 하나, 결과 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관리자용 별도 화면은 만들지 않았다. 실제 구현은 Gradio 화면 하나 — 왼쪽 입력 패널과 오른쪽 결과 패널로 구성된다.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501487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13432"/>
            <a:ext cx="51723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C4744"/>
                </a:solidFill>
                <a:latin typeface="맑은 고딕"/>
                <a:ea typeface="맑은 고딕"/>
              </a:rPr>
              <a:t>왼쪽 · 입력 패널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42616"/>
            <a:ext cx="5172303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"주소 분석해서 채우기" 버튼 하나로 시도·주택구분·주택가액을 채우고, 보증금·선순위채권금액·계약연도/월만 더하면 준비 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13572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•  주소 입력 → 주소 분석해서 채우기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•  시도 · 주택구분 (자동 채움, 수정 가능)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•  주택가액 (자동 채움, 수정 가능)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•  임대보증금액 · 선순위채권금액 (직접 입력)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•  계약연도 · 계약월 (직접 입력)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148840"/>
            <a:ext cx="5501487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1879" y="2313432"/>
            <a:ext cx="51723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0C4744"/>
                </a:solidFill>
                <a:latin typeface="맑은 고딕"/>
                <a:ea typeface="맑은 고딕"/>
              </a:rPr>
              <a:t>오른쪽 · 결과 패널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1879" y="2642616"/>
            <a:ext cx="5172303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5B5346"/>
                </a:solidFill>
                <a:latin typeface="맑은 고딕"/>
                <a:ea typeface="맑은 고딕"/>
              </a:rPr>
              <a:t>"위험도 분석" 버튼을 누르면 같은 화면 오른쪽에 바로 뜬다.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0167" y="3108960"/>
            <a:ext cx="1143000" cy="256032"/>
          </a:xfrm>
          <a:prstGeom prst="roundRect">
            <a:avLst>
              <a:gd name="adj" fmla="val 40000"/>
            </a:avLst>
          </a:prstGeom>
          <a:solidFill>
            <a:srgbClr val="E5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2E8F58"/>
                </a:solidFill>
                <a:latin typeface="Consolas"/>
                <a:ea typeface="Consolas"/>
              </a:rPr>
              <a:t>안전 · 0~30점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4607" y="3108960"/>
            <a:ext cx="1143000" cy="256032"/>
          </a:xfrm>
          <a:prstGeom prst="roundRect">
            <a:avLst>
              <a:gd name="adj" fmla="val 40000"/>
            </a:avLst>
          </a:prstGeom>
          <a:solidFill>
            <a:srgbClr val="FA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AD7714"/>
                </a:solidFill>
                <a:latin typeface="Consolas"/>
                <a:ea typeface="Consolas"/>
              </a:rPr>
              <a:t>주의 · 30~60점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9047" y="3108960"/>
            <a:ext cx="1188720" cy="256032"/>
          </a:xfrm>
          <a:prstGeom prst="roundRect">
            <a:avLst>
              <a:gd name="adj" fmla="val 40000"/>
            </a:avLst>
          </a:prstGeom>
          <a:solidFill>
            <a:srgbClr val="FB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050" b="1" i="0">
                <a:solidFill>
                  <a:srgbClr val="B23A34"/>
                </a:solidFill>
                <a:latin typeface="Consolas"/>
                <a:ea typeface="Consolas"/>
              </a:rPr>
              <a:t>위험 · 60~100점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566160"/>
            <a:ext cx="51357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B5346"/>
                </a:solidFill>
                <a:latin typeface="맑은 고딕"/>
                <a:ea typeface="맑은 고딕"/>
              </a:rPr>
              <a:t>"이 매물이 위험한 이유" — |SHAP| 기여도 상위 6개(날짜 제외)를 요인별 카드로 나열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600" b="0" i="0">
                <a:solidFill>
                  <a:srgbClr val="5B5346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5B5346"/>
                </a:solidFill>
                <a:latin typeface="맑은 고딕"/>
                <a:ea typeface="맑은 고딕"/>
              </a:rPr>
              <a:t>위험 등급 시 권고 — </a:t>
            </a:r>
            <a:r>
              <a:rPr sz="1200" b="0" i="1">
                <a:solidFill>
                  <a:srgbClr val="5B5346"/>
                </a:solidFill>
                <a:latin typeface="맑은 고딕"/>
                <a:ea typeface="맑은 고딕"/>
              </a:rPr>
              <a:t>"⚠️ 전세보증보험(HUG) 가입 가능 여부 확인 필수 · 등기부 선순위채권 확인 · 계약 재검토 강력 권장"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530705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13 · 실시간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주소 한 줄로 어디까지 자동화되는가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계약 고유 정보만 사용자가 입력하고, 나머지는 주소 하나로 그 자리에서 채운다.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85853" cy="23774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1613344"/>
                <a:gridCol w="6776046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입력값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자동화 수준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B8272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T="50800" marB="50800" marL="101600" marR="101600" anchor="ctr">
                    <a:solidFill>
                      <a:srgbClr val="E8E1D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시/도 · 주택유형 · 주택가액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완전 자동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행안부 주소검색(juso.go.kr) API로 법정동코드·건물명 인식 → 아파트/연립다세대/오피스텔 매매 실거래가 API 교차검색 → 최근 3개월 중앙값 매매가로 자동 입력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주소 인식 실패 시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폴백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내장 시/도·시/군/구 사전으로 주소 문자열 직접 매칭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시세비교·갱신계약·건물특성 그룹 피처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완전 자동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시도×주택구분 평균으로 미리 만든 조회테이블에서 즉시 조회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선순위채권금액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오픈 API 없음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등기부등본 열람 필요 — 사용자 직접 입력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임대보증금액 · 계약연도/월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사용자 입력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>
                          <a:solidFill>
                            <a:srgbClr val="5B5346"/>
                          </a:solidFill>
                          <a:latin typeface="맑은 고딕"/>
                        </a:rPr>
                        <a:t>계약 고유 정보라 대체 불가</a:t>
                      </a:r>
                    </a:p>
                  </a:txBody>
                  <a:tcPr marT="63500" marB="63500" marL="101600" marR="10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709160"/>
            <a:ext cx="11185855" cy="114300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709160"/>
            <a:ext cx="45720" cy="114300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18888"/>
            <a:ext cx="10820095" cy="923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이전 프로토타입은 주소 → 시/도까지만 자동이었지만, 이번 Gradio 데모는 "주소 분석해서 채우기" 버튼 하나로 시도·주택유형·주택가액까지 한 번에 채운다 — 주소 인식(행안부 API) → 실거래가 교차검색(국토부 API) → 조회테이블 매칭을 하나의 흐름으로 연결했다. 실행 경로는 두 가지 — 로컬 Flask 프로토타입, 그리고 설치 없이 링크로 여는 Colab + Gradio 데모.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680667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14 · 한계와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>
                <a:solidFill>
                  <a:srgbClr val="201C16"/>
                </a:solidFill>
                <a:latin typeface="맑은 고딕"/>
                <a:ea typeface="맑은 고딕"/>
              </a:rPr>
              <a:t>솔직하게 남겨두는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5B5346"/>
                </a:solidFill>
                <a:latin typeface="맑은 고딕"/>
                <a:ea typeface="맑은 고딕"/>
              </a:rPr>
              <a:t>기술적으로 되는 것과, 서비스로서 아직 부족한 것을 구분해서 밝힌다.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501487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2286000"/>
            <a:ext cx="1078992" cy="274320"/>
          </a:xfrm>
          <a:prstGeom prst="roundRect">
            <a:avLst>
              <a:gd name="adj" fmla="val 15000"/>
            </a:avLst>
          </a:prstGeom>
          <a:noFill/>
          <a:ln w="15240">
            <a:solidFill>
              <a:srgbClr val="B2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8600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B23A34"/>
                </a:solidFill>
                <a:latin typeface="Consolas"/>
                <a:ea typeface="Consolas"/>
              </a:rPr>
              <a:t>라벨 재정의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51760"/>
            <a:ext cx="5172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B5346"/>
                </a:solidFill>
                <a:latin typeface="맑은 고딕"/>
                <a:ea typeface="맑은 고딕"/>
              </a:rPr>
              <a:t>"미반환 사고" ≠ "사기 판정" — 역전세·임대인 파산이 섞여 있어, 서비스 문구는 "사기 위험"이 아니라 "미반환 위험"으로 표기해야 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148840"/>
            <a:ext cx="5501487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1879" y="2286000"/>
            <a:ext cx="987552" cy="274320"/>
          </a:xfrm>
          <a:prstGeom prst="roundRect">
            <a:avLst>
              <a:gd name="adj" fmla="val 15000"/>
            </a:avLst>
          </a:prstGeom>
          <a:noFill/>
          <a:ln w="15240">
            <a:solidFill>
              <a:srgbClr val="B2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2286000"/>
            <a:ext cx="987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B23A34"/>
                </a:solidFill>
                <a:latin typeface="Consolas"/>
                <a:ea typeface="Consolas"/>
              </a:rPr>
              <a:t>합성데이터 기반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651760"/>
            <a:ext cx="5172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B5346"/>
                </a:solidFill>
                <a:latin typeface="맑은 고딕"/>
                <a:ea typeface="맑은 고딕"/>
              </a:rPr>
              <a:t>개별 사고 원본 데이터는 개인정보로 비공개. HUG 합성데이터로 학습했고, 실데이터 확보 시 재학습을 전제로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66160"/>
            <a:ext cx="5501487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703320"/>
            <a:ext cx="1078992" cy="274320"/>
          </a:xfrm>
          <a:prstGeom prst="roundRect">
            <a:avLst>
              <a:gd name="adj" fmla="val 15000"/>
            </a:avLst>
          </a:prstGeom>
          <a:noFill/>
          <a:ln w="15240">
            <a:solidFill>
              <a:srgbClr val="B2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703320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B23A34"/>
                </a:solidFill>
                <a:latin typeface="Consolas"/>
                <a:ea typeface="Consolas"/>
              </a:rPr>
              <a:t>시세 해상도 낮음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4069080"/>
            <a:ext cx="5172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B5346"/>
                </a:solidFill>
                <a:latin typeface="맑은 고딕"/>
                <a:ea typeface="맑은 고딕"/>
              </a:rPr>
              <a:t>시세 변수가 시도 단위라 시군구·동 단위의 국지적 위험(특정 동네 시세 급락 등)은 아직 못 잡는다.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566160"/>
            <a:ext cx="5501487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1879" y="3703320"/>
            <a:ext cx="987552" cy="274320"/>
          </a:xfrm>
          <a:prstGeom prst="roundRect">
            <a:avLst>
              <a:gd name="adj" fmla="val 15000"/>
            </a:avLst>
          </a:prstGeom>
          <a:noFill/>
          <a:ln w="15240">
            <a:solidFill>
              <a:srgbClr val="B23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1879" y="3703320"/>
            <a:ext cx="987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B23A34"/>
                </a:solidFill>
                <a:latin typeface="Consolas"/>
                <a:ea typeface="Consolas"/>
              </a:rPr>
              <a:t>임대인 축 부재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4069080"/>
            <a:ext cx="51723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5B5346"/>
                </a:solidFill>
                <a:latin typeface="맑은 고딕"/>
                <a:ea typeface="맑은 고딕"/>
              </a:rPr>
              <a:t>다주택 보유, 악성임대인 명단 등 임대인 측 위험 신호가 미포함 — 실제 사기 사건의 핵심 축이라 추가가 필요하다.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83480"/>
            <a:ext cx="11185855" cy="777240"/>
          </a:xfrm>
          <a:prstGeom prst="rect">
            <a:avLst/>
          </a:prstGeom>
          <a:solidFill>
            <a:srgbClr val="D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983480"/>
            <a:ext cx="45720" cy="777240"/>
          </a:xfrm>
          <a:prstGeom prst="rect">
            <a:avLst/>
          </a:prstGeom>
          <a:solidFill>
            <a:srgbClr val="126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93208"/>
            <a:ext cx="10820095" cy="557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0C4744"/>
                </a:solidFill>
                <a:latin typeface="맑은 고딕"/>
                <a:ea typeface="맑은 고딕"/>
              </a:rPr>
              <a:t>다음 단계 (우선순위 순) — 시군구 단위 시세 병합 → 임대인 위험 축 추가 → 확률 구간 기반 위험 등급 설계 → 실사고·정상 라벨 확보 시 재학습.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1455724" cy="310896"/>
          </a:xfrm>
          <a:prstGeom prst="roundRect">
            <a:avLst>
              <a:gd name="adj" fmla="val 18000"/>
            </a:avLst>
          </a:prstGeom>
          <a:solidFill>
            <a:srgbClr val="DCEBE7"/>
          </a:solidFill>
          <a:ln w="9525">
            <a:solidFill>
              <a:srgbClr val="1261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0C4744"/>
                </a:solidFill>
                <a:latin typeface="Consolas"/>
                <a:ea typeface="Consolas"/>
              </a:rPr>
              <a:t>CASE FILE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77095" y="4023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B8272"/>
                </a:solidFill>
                <a:latin typeface="Consolas"/>
                <a:ea typeface="Consolas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11858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201C16"/>
                </a:solidFill>
                <a:latin typeface="맑은 고딕"/>
                <a:ea typeface="맑은 고딕"/>
              </a:rPr>
              <a:t>세 문장으로 요약하면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1185855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134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① 위험은 겹칠 때 증폭된다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642616"/>
            <a:ext cx="1085667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5346"/>
                </a:solidFill>
                <a:latin typeface="맑은 고딕"/>
                <a:ea typeface="맑은 고딕"/>
              </a:rPr>
              <a:t>전세가율이 위험의 압도적 1순위이며(90% 이상 구간 사고율 24%, 70% 미만의 11배), 여기에 선순위채권·동네 시세 대비 과대 보증금이 겹칠 때 위험이 증폭된다.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20440"/>
            <a:ext cx="11185855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6850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② 정확도가 아니라 AUC·F1을 같이 봐야 보인다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014216"/>
            <a:ext cx="1085667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5346"/>
                </a:solidFill>
                <a:latin typeface="맑은 고딕"/>
                <a:ea typeface="맑은 고딕"/>
              </a:rPr>
              <a:t>사고가 7.5%뿐인 불균형 데이터라 F1만 보면 모델을 과소평가하게 된다. 불균형을 보정한 트리 기반 LightGBM(scale_pos_weight)으로 ROC-AUC 0.887까지 끌어올렸고, 이 구분력이 있어야 조합 패턴을 설명 가능한 형태로 분해할 수 있었다.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92040"/>
            <a:ext cx="11185855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ED6C4"/>
            </a:solidFill>
          </a:ln>
          <a:effectLst>
            <a:outerShdw blurRad="90000" dist="25000" dir="5400000" rotWithShape="0">
              <a:srgbClr val="201C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056632"/>
            <a:ext cx="108566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 i="0">
                <a:solidFill>
                  <a:srgbClr val="201C16"/>
                </a:solidFill>
                <a:latin typeface="맑은 고딕"/>
                <a:ea typeface="맑은 고딕"/>
              </a:rPr>
              <a:t>③ 모든 판정을 설명할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385816"/>
            <a:ext cx="10856671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B5346"/>
                </a:solidFill>
                <a:latin typeface="맑은 고딕"/>
                <a:ea typeface="맑은 고딕"/>
              </a:rPr>
              <a:t>SHAP으로 모든 판정을 "위험 요인 1위: OO(기여도 +△)" 형식으로 분해할 수 있어, '왜 위험한가'를 설명하는 탐정형 리포트가 기술적으로 구현 가능함을 확인했다.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5508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8B8272"/>
                </a:solidFill>
                <a:latin typeface="Consolas"/>
                <a:ea typeface="Consolas"/>
              </a:rPr>
              <a:t>전세탐정 팀 — 박지민 · 박소연 · 송예원 · 이다영         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